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06" r:id="rId1"/>
  </p:sldMasterIdLst>
  <p:notesMasterIdLst>
    <p:notesMasterId r:id="rId12"/>
  </p:notesMasterIdLst>
  <p:sldIdLst>
    <p:sldId id="260" r:id="rId2"/>
    <p:sldId id="257" r:id="rId3"/>
    <p:sldId id="259" r:id="rId4"/>
    <p:sldId id="261" r:id="rId5"/>
    <p:sldId id="263" r:id="rId6"/>
    <p:sldId id="267" r:id="rId7"/>
    <p:sldId id="264" r:id="rId8"/>
    <p:sldId id="265" r:id="rId9"/>
    <p:sldId id="266" r:id="rId10"/>
    <p:sldId id="268" r:id="rId11"/>
  </p:sldIdLst>
  <p:sldSz cx="14630400" cy="8229600"/>
  <p:notesSz cx="8229600" cy="14630400"/>
  <p:embeddedFontLst>
    <p:embeddedFont>
      <p:font typeface="Instrument Sans Medium" panose="020B0604020202020204" charset="0"/>
      <p:regular r:id="rId13"/>
    </p:embeddedFont>
    <p:embeddedFont>
      <p:font typeface="Open Sans" panose="020B0604020202020204" charset="0"/>
      <p:regular r:id="rId14"/>
    </p:embeddedFont>
    <p:embeddedFont>
      <p:font typeface="Tw Cen MT" panose="020B0602020104020603" pitchFamily="34" charset="0"/>
      <p:regular r:id="rId15"/>
      <p:bold r:id="rId16"/>
      <p:italic r:id="rId17"/>
      <p:boldItalic r:id="rId18"/>
    </p:embeddedFont>
    <p:embeddedFont>
      <p:font typeface="Wingdings 3" panose="05040102010807070707" pitchFamily="18" charset="2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Tw Cen MT Condensed" panose="020B0606020104020203" pitchFamily="34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42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3135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5952164"/>
            <a:ext cx="9326880" cy="1755648"/>
          </a:xfrm>
        </p:spPr>
        <p:txBody>
          <a:bodyPr anchor="ctr">
            <a:normAutofit/>
          </a:bodyPr>
          <a:lstStyle>
            <a:lvl1pPr algn="r">
              <a:defRPr sz="6000" spc="24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332720" y="5952164"/>
            <a:ext cx="3840480" cy="1755648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16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548640" indent="0" algn="ctr">
              <a:buNone/>
              <a:defRPr sz="216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2160"/>
            </a:lvl4pPr>
            <a:lvl5pPr marL="2194560" indent="0" algn="ctr">
              <a:buNone/>
              <a:defRPr sz="2160"/>
            </a:lvl5pPr>
            <a:lvl6pPr marL="2743200" indent="0" algn="ctr">
              <a:buNone/>
              <a:defRPr sz="2160"/>
            </a:lvl6pPr>
            <a:lvl7pPr marL="3291840" indent="0" algn="ctr">
              <a:buNone/>
              <a:defRPr sz="2160"/>
            </a:lvl7pPr>
            <a:lvl8pPr marL="3840480" indent="0" algn="ctr">
              <a:buNone/>
              <a:defRPr sz="2160"/>
            </a:lvl8pPr>
            <a:lvl9pPr marL="4389120" indent="0" algn="ctr">
              <a:buNone/>
              <a:defRPr sz="216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764DE79-268F-4C1A-8933-263129D2AF90}" type="datetimeFigureOut">
              <a:rPr lang="en-US" smtClean="0"/>
              <a:t>5/24/2025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10064210" y="6316927"/>
            <a:ext cx="0" cy="109728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-1"/>
            <a:ext cx="14630400" cy="54864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4015993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15268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952164"/>
            <a:ext cx="9326880" cy="1755648"/>
          </a:xfrm>
        </p:spPr>
        <p:txBody>
          <a:bodyPr anchor="ctr">
            <a:normAutofit/>
          </a:bodyPr>
          <a:lstStyle>
            <a:lvl1pPr algn="r">
              <a:defRPr sz="6000" b="0" spc="24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32720" y="5952164"/>
            <a:ext cx="3840480" cy="1755648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16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0064212" y="6316927"/>
            <a:ext cx="0" cy="109728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10064210" y="6316927"/>
            <a:ext cx="0" cy="109728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4630400" cy="5486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3998050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954" y="702259"/>
            <a:ext cx="11664086" cy="179953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28952" y="2743200"/>
            <a:ext cx="5705856" cy="48280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87184" y="2743200"/>
            <a:ext cx="5705856" cy="48280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3593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954" y="2615563"/>
            <a:ext cx="5705856" cy="987552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76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28954" y="3561346"/>
            <a:ext cx="5705856" cy="400988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189066" y="2615563"/>
            <a:ext cx="5705856" cy="987552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76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marL="0" lvl="0" indent="0" algn="l" defTabSz="1097280" rtl="0" eaLnBrk="1" latinLnBrk="0" hangingPunct="1">
              <a:lnSpc>
                <a:spcPct val="90000"/>
              </a:lnSpc>
              <a:spcBef>
                <a:spcPts val="216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89066" y="3561346"/>
            <a:ext cx="5705856" cy="400988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9035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16777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43900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228954" y="565811"/>
            <a:ext cx="5266944" cy="2084832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0" y="987552"/>
            <a:ext cx="6814109" cy="6221578"/>
          </a:xfrm>
        </p:spPr>
        <p:txBody>
          <a:bodyPr/>
          <a:lstStyle>
            <a:lvl1pPr>
              <a:defRPr sz="2880"/>
            </a:lvl1pPr>
            <a:lvl2pPr>
              <a:defRPr sz="2400"/>
            </a:lvl2pPr>
            <a:lvl3pPr>
              <a:defRPr sz="192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8954" y="2709007"/>
            <a:ext cx="5266944" cy="4514753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720"/>
              </a:spcBef>
              <a:buNone/>
              <a:defRPr sz="192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77090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952166"/>
            <a:ext cx="9326880" cy="1755648"/>
          </a:xfrm>
        </p:spPr>
        <p:txBody>
          <a:bodyPr anchor="ctr">
            <a:normAutofit/>
          </a:bodyPr>
          <a:lstStyle>
            <a:lvl1pPr algn="r">
              <a:defRPr sz="6000" spc="24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4626742" cy="54864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332720" y="5952166"/>
            <a:ext cx="3840480" cy="1755648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16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0064212" y="6316927"/>
            <a:ext cx="0" cy="109728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06941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16324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1" y="914400"/>
            <a:ext cx="3154680" cy="649224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88721" y="914400"/>
            <a:ext cx="9098280" cy="649224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5400000" flipV="1">
            <a:off x="12070080" y="71116"/>
            <a:ext cx="0" cy="109728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914888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2901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28954" y="702259"/>
            <a:ext cx="11664086" cy="1799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954" y="2743200"/>
            <a:ext cx="11664088" cy="4828032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28955" y="7764845"/>
            <a:ext cx="2584972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764DE79-268F-4C1A-8933-263129D2AF90}" type="datetimeFigureOut">
              <a:rPr lang="en-US" smtClean="0"/>
              <a:t>5/24/2025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519" y="7764845"/>
            <a:ext cx="7081751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004800" y="7764845"/>
            <a:ext cx="1168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914400" y="991589"/>
            <a:ext cx="0" cy="109728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24607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</p:sldLayoutIdLst>
  <p:hf sldNum="0" hdr="0" ftr="0" dt="0"/>
  <p:txStyles>
    <p:titleStyle>
      <a:lvl1pPr algn="l" defTabSz="1097280" rtl="0" eaLnBrk="1" latinLnBrk="0" hangingPunct="1">
        <a:lnSpc>
          <a:spcPct val="80000"/>
        </a:lnSpc>
        <a:spcBef>
          <a:spcPct val="0"/>
        </a:spcBef>
        <a:buNone/>
        <a:defRPr sz="6000" kern="1200" cap="all" spc="12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109728" indent="-109728" algn="l" defTabSz="1097280" rtl="0" eaLnBrk="1" latinLnBrk="0" hangingPunct="1">
        <a:lnSpc>
          <a:spcPct val="90000"/>
        </a:lnSpc>
        <a:spcBef>
          <a:spcPts val="1440"/>
        </a:spcBef>
        <a:spcAft>
          <a:spcPts val="24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640" kern="1200">
          <a:solidFill>
            <a:schemeClr val="tx1"/>
          </a:solidFill>
          <a:latin typeface="+mn-lt"/>
          <a:ea typeface="+mn-ea"/>
          <a:cs typeface="+mn-cs"/>
        </a:defRPr>
      </a:lvl1pPr>
      <a:lvl2pPr marL="318211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2"/>
        </a:buClr>
        <a:buFont typeface="Wingdings 3" pitchFamily="18" charset="2"/>
        <a:buChar char="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537667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2"/>
        </a:buClr>
        <a:buFont typeface="Wingdings 3" pitchFamily="18" charset="2"/>
        <a:buChar char="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713232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2"/>
        </a:buClr>
        <a:buFont typeface="Wingdings 3" pitchFamily="18" charset="2"/>
        <a:buChar char=""/>
        <a:defRPr sz="1680" kern="1200">
          <a:solidFill>
            <a:schemeClr val="tx1"/>
          </a:solidFill>
          <a:latin typeface="+mn-lt"/>
          <a:ea typeface="+mn-ea"/>
          <a:cs typeface="+mn-cs"/>
        </a:defRPr>
      </a:lvl4pPr>
      <a:lvl5pPr marL="932688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2"/>
        </a:buClr>
        <a:buFont typeface="Wingdings 3" pitchFamily="18" charset="2"/>
        <a:buChar char=""/>
        <a:defRPr sz="168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2"/>
        </a:buClr>
        <a:buFont typeface="Wingdings 3" pitchFamily="18" charset="2"/>
        <a:buChar char=""/>
        <a:defRPr sz="1680" kern="1200">
          <a:solidFill>
            <a:schemeClr val="tx1"/>
          </a:solidFill>
          <a:latin typeface="+mn-lt"/>
          <a:ea typeface="+mn-ea"/>
          <a:cs typeface="+mn-cs"/>
        </a:defRPr>
      </a:lvl6pPr>
      <a:lvl7pPr marL="1272845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2"/>
        </a:buClr>
        <a:buFont typeface="Wingdings 3" pitchFamily="18" charset="2"/>
        <a:buChar char=""/>
        <a:defRPr sz="1680" kern="1200">
          <a:solidFill>
            <a:schemeClr val="tx1"/>
          </a:solidFill>
          <a:latin typeface="+mn-lt"/>
          <a:ea typeface="+mn-ea"/>
          <a:cs typeface="+mn-cs"/>
        </a:defRPr>
      </a:lvl7pPr>
      <a:lvl8pPr marL="1459382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2"/>
        </a:buClr>
        <a:buFont typeface="Wingdings 3" pitchFamily="18" charset="2"/>
        <a:buChar char=""/>
        <a:defRPr sz="1680" kern="1200">
          <a:solidFill>
            <a:schemeClr val="tx1"/>
          </a:solidFill>
          <a:latin typeface="+mn-lt"/>
          <a:ea typeface="+mn-ea"/>
          <a:cs typeface="+mn-cs"/>
        </a:defRPr>
      </a:lvl8pPr>
      <a:lvl9pPr marL="1634947" indent="-164592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2"/>
        </a:buClr>
        <a:buFont typeface="Wingdings 3" pitchFamily="18" charset="2"/>
        <a:buChar char=""/>
        <a:defRPr sz="16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4294967295"/>
          </p:nvPr>
        </p:nvSpPr>
        <p:spPr>
          <a:xfrm>
            <a:off x="0" y="2541588"/>
            <a:ext cx="6216650" cy="5221287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en-US" sz="2800" b="1" dirty="0">
                <a:latin typeface="Helvetical"/>
              </a:rPr>
              <a:t>Lost &amp; Found Item </a:t>
            </a:r>
            <a:endParaRPr lang="en-US" sz="2800" b="1" dirty="0" smtClean="0">
              <a:latin typeface="Helvetical"/>
            </a:endParaRPr>
          </a:p>
          <a:p>
            <a:pPr marL="0" indent="0" algn="r">
              <a:buNone/>
            </a:pPr>
            <a:r>
              <a:rPr lang="en-US" sz="2800" b="1" dirty="0" smtClean="0">
                <a:latin typeface="Helvetical"/>
              </a:rPr>
              <a:t>Management </a:t>
            </a:r>
            <a:r>
              <a:rPr lang="en-US" sz="2800" b="1" dirty="0">
                <a:latin typeface="Helvetical"/>
              </a:rPr>
              <a:t>System</a:t>
            </a:r>
            <a:r>
              <a:rPr lang="en-US" sz="2800" dirty="0">
                <a:latin typeface="Helvetical"/>
              </a:rPr>
              <a:t> </a:t>
            </a:r>
            <a:endParaRPr lang="en-US" sz="2800" dirty="0" smtClean="0">
              <a:latin typeface="Helvetical"/>
            </a:endParaRPr>
          </a:p>
          <a:p>
            <a:pPr marL="0" indent="0" algn="r">
              <a:buNone/>
            </a:pPr>
            <a:r>
              <a:rPr lang="en-US" sz="2800" b="1" dirty="0" smtClean="0">
                <a:latin typeface="Helvetical"/>
              </a:rPr>
              <a:t>project</a:t>
            </a:r>
            <a:endParaRPr lang="en-US" sz="2800" b="1" dirty="0">
              <a:latin typeface="Helvetical"/>
            </a:endParaRPr>
          </a:p>
          <a:p>
            <a:pPr marL="0" indent="0" algn="r">
              <a:buNone/>
            </a:pPr>
            <a:r>
              <a:rPr lang="en-US" sz="2800" b="1" dirty="0">
                <a:latin typeface="Helvetical"/>
              </a:rPr>
              <a:t>(University)</a:t>
            </a:r>
            <a:endParaRPr lang="en-US" sz="2800" dirty="0">
              <a:latin typeface="Helvetical"/>
            </a:endParaRPr>
          </a:p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4294967295"/>
          </p:nvPr>
        </p:nvSpPr>
        <p:spPr>
          <a:xfrm>
            <a:off x="9707563" y="1889125"/>
            <a:ext cx="4922837" cy="43894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en-US" sz="4000" dirty="0">
                <a:latin typeface="Helvetical"/>
              </a:rPr>
              <a:t/>
            </a:r>
            <a:br>
              <a:rPr lang="en-US" sz="4000" dirty="0">
                <a:latin typeface="Helvetical"/>
              </a:rPr>
            </a:br>
            <a:endParaRPr lang="en-US" sz="4000" dirty="0" smtClean="0">
              <a:latin typeface="Helvetic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 smtClean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PL/SQL </a:t>
            </a:r>
            <a:r>
              <a:rPr lang="en-US" sz="18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Oracle Database </a:t>
            </a:r>
            <a:r>
              <a:rPr lang="en-US" sz="1800" dirty="0" smtClean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</a:t>
            </a:r>
            <a:endParaRPr lang="en-US" sz="1800" dirty="0">
              <a:latin typeface="Helvetical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Name: Ntarindwa </a:t>
            </a:r>
            <a:r>
              <a:rPr lang="en-US" sz="1800" dirty="0" err="1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Mugisha</a:t>
            </a:r>
            <a:r>
              <a:rPr lang="en-US" sz="18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800" dirty="0" smtClean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Elvin</a:t>
            </a:r>
            <a:endParaRPr lang="en-US" sz="1800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ID:26437</a:t>
            </a:r>
            <a:endParaRPr lang="en-US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Group: </a:t>
            </a:r>
            <a:r>
              <a:rPr lang="en-US" sz="1800" dirty="0" smtClean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Tuesday(B)</a:t>
            </a: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6920" y="407671"/>
            <a:ext cx="4069080" cy="2291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435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07877" y="1453039"/>
            <a:ext cx="9420106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EFEFE"/>
                </a:solidFill>
                <a:latin typeface="Helvetical"/>
                <a:ea typeface="Instrument Sans Medium" pitchFamily="34" charset="-122"/>
                <a:cs typeface="Instrument Sans Medium" pitchFamily="34" charset="-120"/>
              </a:rPr>
              <a:t>Problem Statement &amp; Objectives</a:t>
            </a:r>
            <a:endParaRPr lang="en-US" sz="4850" dirty="0">
              <a:latin typeface="Helvetical"/>
            </a:endParaRPr>
          </a:p>
        </p:txBody>
      </p:sp>
      <p:sp>
        <p:nvSpPr>
          <p:cNvPr id="3" name="Text 1"/>
          <p:cNvSpPr/>
          <p:nvPr/>
        </p:nvSpPr>
        <p:spPr>
          <a:xfrm>
            <a:off x="864037" y="2860238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EFEFE"/>
                </a:solidFill>
                <a:latin typeface="Helvetical"/>
                <a:ea typeface="Instrument Sans Medium" pitchFamily="34" charset="-122"/>
                <a:cs typeface="Instrument Sans Medium" pitchFamily="34" charset="-120"/>
              </a:rPr>
              <a:t>Problem Definition</a:t>
            </a:r>
            <a:endParaRPr lang="en-US" sz="2400" dirty="0">
              <a:latin typeface="Helvetic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864037" y="3492818"/>
            <a:ext cx="6150054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Helvetical"/>
                <a:ea typeface="Open Sans" pitchFamily="34" charset="-122"/>
                <a:cs typeface="Open Sans" pitchFamily="34" charset="-120"/>
              </a:rPr>
              <a:t>Universities currently struggle with </a:t>
            </a:r>
            <a:r>
              <a:rPr lang="en-US" sz="1900" b="1" dirty="0">
                <a:solidFill>
                  <a:srgbClr val="BFBFBF"/>
                </a:solidFill>
                <a:latin typeface="Helvetical"/>
                <a:ea typeface="Open Sans" pitchFamily="34" charset="-122"/>
                <a:cs typeface="Open Sans" pitchFamily="34" charset="-120"/>
              </a:rPr>
              <a:t>manual logs or basic spreadsheets</a:t>
            </a:r>
            <a:r>
              <a:rPr lang="en-US" sz="1900" dirty="0">
                <a:solidFill>
                  <a:srgbClr val="BFBFBF"/>
                </a:solidFill>
                <a:latin typeface="Helvetical"/>
                <a:ea typeface="Open Sans" pitchFamily="34" charset="-122"/>
                <a:cs typeface="Open Sans" pitchFamily="34" charset="-120"/>
              </a:rPr>
              <a:t> to manage lost items. These methods are prone to </a:t>
            </a:r>
            <a:r>
              <a:rPr lang="en-US" sz="1900" b="1" dirty="0">
                <a:solidFill>
                  <a:srgbClr val="BFBFBF"/>
                </a:solidFill>
                <a:latin typeface="Helvetical"/>
                <a:ea typeface="Open Sans" pitchFamily="34" charset="-122"/>
                <a:cs typeface="Open Sans" pitchFamily="34" charset="-120"/>
              </a:rPr>
              <a:t>errors, loss of records, and delays</a:t>
            </a:r>
            <a:r>
              <a:rPr lang="en-US" sz="1900" dirty="0">
                <a:solidFill>
                  <a:srgbClr val="BFBFBF"/>
                </a:solidFill>
                <a:latin typeface="Helvetical"/>
                <a:ea typeface="Open Sans" pitchFamily="34" charset="-122"/>
                <a:cs typeface="Open Sans" pitchFamily="34" charset="-120"/>
              </a:rPr>
              <a:t>, complicating the recovery process for students and staff.</a:t>
            </a:r>
            <a:endParaRPr lang="en-US" sz="1900" dirty="0">
              <a:latin typeface="Helvetic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7623929" y="2860238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EFEFE"/>
                </a:solidFill>
                <a:latin typeface="Helvetical"/>
                <a:ea typeface="Instrument Sans Medium" pitchFamily="34" charset="-122"/>
                <a:cs typeface="Instrument Sans Medium" pitchFamily="34" charset="-120"/>
              </a:rPr>
              <a:t>Objectives</a:t>
            </a:r>
            <a:endParaRPr lang="en-US" sz="2400" dirty="0">
              <a:latin typeface="Helvetic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3929" y="3492818"/>
            <a:ext cx="6150054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Helvetical"/>
                <a:ea typeface="Open Sans" pitchFamily="34" charset="-122"/>
                <a:cs typeface="Open Sans" pitchFamily="34" charset="-120"/>
              </a:rPr>
              <a:t>Our system aims to provide an </a:t>
            </a:r>
            <a:r>
              <a:rPr lang="en-US" sz="1900" b="1" dirty="0">
                <a:solidFill>
                  <a:srgbClr val="BFBFBF"/>
                </a:solidFill>
                <a:latin typeface="Helvetical"/>
                <a:ea typeface="Open Sans" pitchFamily="34" charset="-122"/>
                <a:cs typeface="Open Sans" pitchFamily="34" charset="-120"/>
              </a:rPr>
              <a:t>automated, centralized solution</a:t>
            </a:r>
            <a:r>
              <a:rPr lang="en-US" sz="1900" dirty="0">
                <a:solidFill>
                  <a:srgbClr val="BFBFBF"/>
                </a:solidFill>
                <a:latin typeface="Helvetical"/>
                <a:ea typeface="Open Sans" pitchFamily="34" charset="-122"/>
                <a:cs typeface="Open Sans" pitchFamily="34" charset="-120"/>
              </a:rPr>
              <a:t> utilizing a </a:t>
            </a:r>
            <a:r>
              <a:rPr lang="en-US" sz="1900" b="1" dirty="0">
                <a:solidFill>
                  <a:srgbClr val="BFBFBF"/>
                </a:solidFill>
                <a:latin typeface="Helvetical"/>
                <a:ea typeface="Open Sans" pitchFamily="34" charset="-122"/>
                <a:cs typeface="Open Sans" pitchFamily="34" charset="-120"/>
              </a:rPr>
              <a:t>PL/SQL-based Oracle database</a:t>
            </a:r>
            <a:r>
              <a:rPr lang="en-US" sz="1900" dirty="0">
                <a:solidFill>
                  <a:srgbClr val="BFBFBF"/>
                </a:solidFill>
                <a:latin typeface="Helvetical"/>
                <a:ea typeface="Open Sans" pitchFamily="34" charset="-122"/>
                <a:cs typeface="Open Sans" pitchFamily="34" charset="-120"/>
              </a:rPr>
              <a:t> to streamline </a:t>
            </a:r>
            <a:r>
              <a:rPr lang="en-US" sz="1900" b="1" dirty="0">
                <a:solidFill>
                  <a:srgbClr val="BFBFBF"/>
                </a:solidFill>
                <a:latin typeface="Helvetical"/>
                <a:ea typeface="Open Sans" pitchFamily="34" charset="-122"/>
                <a:cs typeface="Open Sans" pitchFamily="34" charset="-120"/>
              </a:rPr>
              <a:t>reporting, tracking, and claiming</a:t>
            </a:r>
            <a:r>
              <a:rPr lang="en-US" sz="1900" dirty="0">
                <a:solidFill>
                  <a:srgbClr val="BFBFBF"/>
                </a:solidFill>
                <a:latin typeface="Helvetical"/>
                <a:ea typeface="Open Sans" pitchFamily="34" charset="-122"/>
                <a:cs typeface="Open Sans" pitchFamily="34" charset="-120"/>
              </a:rPr>
              <a:t> lost items. This addresses the current inefficiencies and ensures a smoother process.</a:t>
            </a:r>
            <a:endParaRPr lang="en-US" sz="1900" dirty="0">
              <a:latin typeface="Helvetical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4037" y="5967889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Helvetical"/>
                <a:ea typeface="Open Sans" pitchFamily="34" charset="-122"/>
                <a:cs typeface="Open Sans" pitchFamily="34" charset="-120"/>
              </a:rPr>
              <a:t>The current methods are inadequate, resulting in inefficiency, misplaced items, and delays. The new system seeks to provide an efficient and secure claims process.</a:t>
            </a:r>
            <a:endParaRPr lang="en-US" sz="1900" dirty="0">
              <a:latin typeface="Helvetic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dirty="0">
                <a:solidFill>
                  <a:srgbClr val="FEFEFE"/>
                </a:solidFill>
                <a:latin typeface="Helvetical"/>
                <a:ea typeface="Instrument Sans Medium" pitchFamily="34" charset="-122"/>
                <a:cs typeface="Instrument Sans Medium" pitchFamily="34" charset="-120"/>
              </a:rPr>
              <a:t/>
            </a:r>
            <a:br>
              <a:rPr lang="en-US" sz="5400" dirty="0">
                <a:solidFill>
                  <a:srgbClr val="FEFEFE"/>
                </a:solidFill>
                <a:latin typeface="Helvetical"/>
                <a:ea typeface="Instrument Sans Medium" pitchFamily="34" charset="-122"/>
                <a:cs typeface="Instrument Sans Medium" pitchFamily="34" charset="-120"/>
              </a:rPr>
            </a:br>
            <a:r>
              <a:rPr lang="en-US" sz="5400" dirty="0" smtClean="0">
                <a:solidFill>
                  <a:srgbClr val="FEFEFE"/>
                </a:solidFill>
                <a:latin typeface="Helvetical"/>
                <a:ea typeface="Instrument Sans Medium" pitchFamily="34" charset="-122"/>
                <a:cs typeface="Instrument Sans Medium" pitchFamily="34" charset="-120"/>
              </a:rPr>
              <a:t>Technical </a:t>
            </a:r>
            <a:r>
              <a:rPr lang="en-US" sz="5400" dirty="0">
                <a:solidFill>
                  <a:srgbClr val="FEFEFE"/>
                </a:solidFill>
                <a:latin typeface="Helvetical"/>
                <a:ea typeface="Instrument Sans Medium" pitchFamily="34" charset="-122"/>
                <a:cs typeface="Instrument Sans Medium" pitchFamily="34" charset="-120"/>
              </a:rPr>
              <a:t>Framework &amp; Benefits</a:t>
            </a:r>
            <a:r>
              <a:rPr lang="en-US" sz="5400" dirty="0"/>
              <a:t/>
            </a:r>
            <a:br>
              <a:rPr lang="en-US" sz="540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 smtClean="0">
                <a:latin typeface="Helvetical"/>
                <a:ea typeface="Open Sans" panose="020B0604020202020204" charset="0"/>
                <a:cs typeface="Open Sans" panose="020B0604020202020204" charset="0"/>
              </a:rPr>
              <a:t>Main Entities:</a:t>
            </a:r>
            <a:endParaRPr lang="en-US" sz="2000" b="1" dirty="0">
              <a:solidFill>
                <a:srgbClr val="BFBFBF"/>
              </a:solidFill>
              <a:latin typeface="Helvetical"/>
              <a:ea typeface="Open Sans" pitchFamily="34" charset="-122"/>
              <a:cs typeface="Open Sans" pitchFamily="34" charset="-120"/>
            </a:endParaRPr>
          </a:p>
          <a:p>
            <a:pPr marL="0" indent="0">
              <a:buNone/>
            </a:pPr>
            <a:r>
              <a:rPr lang="en-US" sz="1800" b="1" dirty="0" smtClean="0">
                <a:solidFill>
                  <a:schemeClr val="accent2">
                    <a:lumMod val="50000"/>
                  </a:schemeClr>
                </a:solidFill>
              </a:rPr>
              <a:t>‍</a:t>
            </a:r>
            <a:r>
              <a:rPr lang="en-US" sz="1800" b="1" dirty="0">
                <a:solidFill>
                  <a:schemeClr val="accent2">
                    <a:lumMod val="50000"/>
                  </a:schemeClr>
                </a:solidFill>
                <a:latin typeface="Helvetical"/>
              </a:rPr>
              <a:t>💼 Target Users and System Roles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🎓 Student/Staff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:</a:t>
            </a:r>
            <a:r>
              <a:rPr lang="en-US" sz="1800" dirty="0">
                <a:latin typeface="Helvetical"/>
              </a:rPr>
              <a:t/>
            </a:r>
            <a:br>
              <a:rPr lang="en-US" sz="1800" dirty="0">
                <a:latin typeface="Helvetical"/>
              </a:rPr>
            </a:br>
            <a:r>
              <a:rPr lang="en-US" sz="1800" dirty="0">
                <a:latin typeface="Helvetical"/>
              </a:rPr>
              <a:t>Initiate the process by reporting a lost item or searching for it. They also submit claims when an item is found.</a:t>
            </a:r>
          </a:p>
          <a:p>
            <a:pPr marL="0" indent="0">
              <a:buNone/>
            </a:pPr>
            <a:r>
              <a:rPr lang="en-US" sz="1800" b="1" dirty="0" smtClean="0">
                <a:latin typeface="Helvetical"/>
              </a:rPr>
              <a:t>‍</a:t>
            </a: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💼 Administrator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:</a:t>
            </a:r>
            <a:r>
              <a:rPr lang="en-US" sz="1800" dirty="0">
                <a:latin typeface="Helvetical"/>
              </a:rPr>
              <a:t/>
            </a:r>
            <a:br>
              <a:rPr lang="en-US" sz="1800" dirty="0">
                <a:latin typeface="Helvetical"/>
              </a:rPr>
            </a:br>
            <a:r>
              <a:rPr lang="en-US" sz="1800" dirty="0">
                <a:latin typeface="Helvetical"/>
              </a:rPr>
              <a:t>Manages item records, validates reported items and claims, and approves the return of found items.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💽 Database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:</a:t>
            </a:r>
            <a:r>
              <a:rPr lang="en-US" sz="1800" dirty="0">
                <a:latin typeface="Helvetical"/>
              </a:rPr>
              <a:t/>
            </a:r>
            <a:br>
              <a:rPr lang="en-US" sz="1800" dirty="0">
                <a:latin typeface="Helvetical"/>
              </a:rPr>
            </a:br>
            <a:r>
              <a:rPr lang="en-US" sz="1800" dirty="0">
                <a:latin typeface="Helvetical"/>
              </a:rPr>
              <a:t>Serves as the central data store where all item and claim details are securely stored and retrieved.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🔁 Claim Workflow System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:</a:t>
            </a:r>
            <a:r>
              <a:rPr lang="en-US" sz="1800" dirty="0">
                <a:latin typeface="Helvetical"/>
              </a:rPr>
              <a:t/>
            </a:r>
            <a:br>
              <a:rPr lang="en-US" sz="1800" dirty="0">
                <a:latin typeface="Helvetical"/>
              </a:rPr>
            </a:br>
            <a:r>
              <a:rPr lang="en-US" sz="1800" dirty="0">
                <a:latin typeface="Helvetical"/>
              </a:rPr>
              <a:t>Automates the process of matching found items to lost item reports and monitors the progress of claims.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🔔 Notification System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:</a:t>
            </a:r>
            <a:r>
              <a:rPr lang="en-US" sz="1800" dirty="0">
                <a:latin typeface="Helvetical"/>
              </a:rPr>
              <a:t/>
            </a:r>
            <a:br>
              <a:rPr lang="en-US" sz="1800" dirty="0">
                <a:latin typeface="Helvetical"/>
              </a:rPr>
            </a:br>
            <a:r>
              <a:rPr lang="en-US" sz="1800" dirty="0">
                <a:latin typeface="Helvetical"/>
              </a:rPr>
              <a:t>Sends real-time updates to users when their lost item is found or when a claim has been approved or rejected.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Clr>
                <a:schemeClr val="accent4"/>
              </a:buClr>
              <a:buNone/>
            </a:pPr>
            <a:r>
              <a:rPr lang="en-US" sz="2000" b="1" dirty="0" smtClean="0">
                <a:latin typeface="Helvetical"/>
                <a:ea typeface="Open Sans" panose="020B0604020202020204" charset="0"/>
                <a:cs typeface="Open Sans" panose="020B0604020202020204" charset="0"/>
              </a:rPr>
              <a:t>Benefits:</a:t>
            </a:r>
            <a:endParaRPr lang="en-US" sz="2000" b="1" dirty="0">
              <a:latin typeface="Helvetical"/>
              <a:ea typeface="Open Sans" panose="020B0604020202020204" charset="0"/>
              <a:cs typeface="Open Sans" panose="020B0604020202020204" charset="0"/>
            </a:endParaRPr>
          </a:p>
          <a:p>
            <a:pPr>
              <a:buClr>
                <a:schemeClr val="accent4"/>
              </a:buClr>
              <a:buFont typeface="Wingdings" panose="05000000000000000000" pitchFamily="2" charset="2"/>
              <a:buChar char="ü"/>
            </a:pPr>
            <a:r>
              <a:rPr lang="en-US" sz="1800" dirty="0" smtClean="0">
                <a:latin typeface="Helvetical"/>
                <a:ea typeface="Instrument Sans Medium" pitchFamily="34" charset="-122"/>
                <a:cs typeface="Instrument Sans Medium" pitchFamily="34" charset="-120"/>
              </a:rPr>
              <a:t>Faster </a:t>
            </a:r>
            <a:r>
              <a:rPr lang="en-US" sz="1800" dirty="0">
                <a:latin typeface="Helvetical"/>
                <a:ea typeface="Instrument Sans Medium" pitchFamily="34" charset="-122"/>
                <a:cs typeface="Instrument Sans Medium" pitchFamily="34" charset="-120"/>
              </a:rPr>
              <a:t>Item </a:t>
            </a:r>
            <a:r>
              <a:rPr lang="en-US" sz="1800" dirty="0" smtClean="0">
                <a:latin typeface="Helvetical"/>
                <a:ea typeface="Instrument Sans Medium" pitchFamily="34" charset="-122"/>
                <a:cs typeface="Instrument Sans Medium" pitchFamily="34" charset="-120"/>
              </a:rPr>
              <a:t>Recovery:</a:t>
            </a:r>
          </a:p>
          <a:p>
            <a:pPr marL="0" indent="0">
              <a:buClr>
                <a:schemeClr val="accent4"/>
              </a:buClr>
              <a:buNone/>
            </a:pPr>
            <a:r>
              <a:rPr lang="en-US" sz="1800" dirty="0" smtClean="0">
                <a:latin typeface="Helvetical"/>
                <a:ea typeface="Open Sans" pitchFamily="34" charset="-122"/>
                <a:cs typeface="Open Sans" pitchFamily="34" charset="-120"/>
              </a:rPr>
              <a:t>Users </a:t>
            </a:r>
            <a:r>
              <a:rPr lang="en-US" sz="1800" dirty="0">
                <a:latin typeface="Helvetical"/>
                <a:ea typeface="Open Sans" pitchFamily="34" charset="-122"/>
                <a:cs typeface="Open Sans" pitchFamily="34" charset="-120"/>
              </a:rPr>
              <a:t>receive notifications when their lost item is found, accelerating the return process.</a:t>
            </a:r>
            <a:endParaRPr lang="en-US" sz="1800" dirty="0">
              <a:latin typeface="Helvetical"/>
            </a:endParaRPr>
          </a:p>
          <a:p>
            <a:pPr>
              <a:buClr>
                <a:schemeClr val="accent4"/>
              </a:buClr>
              <a:buFont typeface="Wingdings" panose="05000000000000000000" pitchFamily="2" charset="2"/>
              <a:buChar char="ü"/>
            </a:pPr>
            <a:r>
              <a:rPr lang="en-US" sz="1800" dirty="0" smtClean="0">
                <a:latin typeface="Helvetical"/>
                <a:ea typeface="Instrument Sans Medium" pitchFamily="34" charset="-122"/>
                <a:cs typeface="Instrument Sans Medium" pitchFamily="34" charset="-120"/>
              </a:rPr>
              <a:t>Better </a:t>
            </a:r>
            <a:r>
              <a:rPr lang="en-US" sz="1800" dirty="0">
                <a:latin typeface="Helvetical"/>
                <a:ea typeface="Instrument Sans Medium" pitchFamily="34" charset="-122"/>
                <a:cs typeface="Instrument Sans Medium" pitchFamily="34" charset="-120"/>
              </a:rPr>
              <a:t>Organization</a:t>
            </a:r>
            <a:endParaRPr lang="en-US" sz="1800" dirty="0">
              <a:latin typeface="Helvetical"/>
            </a:endParaRPr>
          </a:p>
          <a:p>
            <a:pPr marL="0" indent="0">
              <a:buClr>
                <a:schemeClr val="accent4"/>
              </a:buClr>
              <a:buNone/>
            </a:pPr>
            <a:r>
              <a:rPr lang="en-US" sz="1800" dirty="0">
                <a:latin typeface="Helvetical"/>
                <a:ea typeface="Open Sans" pitchFamily="34" charset="-122"/>
                <a:cs typeface="Open Sans" pitchFamily="34" charset="-120"/>
              </a:rPr>
              <a:t>Digital record-keeping minimizes item mismanagement and ensures data accuracy.</a:t>
            </a:r>
            <a:endParaRPr lang="en-US" sz="1800" dirty="0">
              <a:latin typeface="Helvetical"/>
            </a:endParaRPr>
          </a:p>
          <a:p>
            <a:pPr>
              <a:buClr>
                <a:schemeClr val="accent4"/>
              </a:buClr>
              <a:buFont typeface="Wingdings" panose="05000000000000000000" pitchFamily="2" charset="2"/>
              <a:buChar char="ü"/>
            </a:pPr>
            <a:r>
              <a:rPr lang="en-US" sz="1800" dirty="0">
                <a:latin typeface="Helvetical"/>
                <a:ea typeface="Instrument Sans Medium" pitchFamily="34" charset="-122"/>
                <a:cs typeface="Instrument Sans Medium" pitchFamily="34" charset="-120"/>
              </a:rPr>
              <a:t>Secure Claims Process</a:t>
            </a:r>
            <a:endParaRPr lang="en-US" sz="1800" dirty="0">
              <a:latin typeface="Helvetical"/>
            </a:endParaRPr>
          </a:p>
          <a:p>
            <a:pPr marL="0" indent="0">
              <a:buClr>
                <a:schemeClr val="accent4"/>
              </a:buClr>
              <a:buNone/>
            </a:pPr>
            <a:r>
              <a:rPr lang="en-US" sz="1800" dirty="0">
                <a:latin typeface="Helvetical"/>
                <a:ea typeface="Open Sans" pitchFamily="34" charset="-122"/>
                <a:cs typeface="Open Sans" pitchFamily="34" charset="-120"/>
              </a:rPr>
              <a:t>Verifies ownership through a secure process before items are returned to their owners.</a:t>
            </a:r>
            <a:endParaRPr lang="en-US" sz="1800" dirty="0">
              <a:latin typeface="Helvetical"/>
            </a:endParaRPr>
          </a:p>
          <a:p>
            <a:pPr>
              <a:buClr>
                <a:schemeClr val="accent4"/>
              </a:buClr>
              <a:buFont typeface="Wingdings" panose="05000000000000000000" pitchFamily="2" charset="2"/>
              <a:buChar char="ü"/>
            </a:pPr>
            <a:r>
              <a:rPr lang="en-US" sz="1800" dirty="0">
                <a:latin typeface="Helvetical"/>
                <a:ea typeface="Instrument Sans Medium" pitchFamily="34" charset="-122"/>
                <a:cs typeface="Instrument Sans Medium" pitchFamily="34" charset="-120"/>
              </a:rPr>
              <a:t>Reduced Workload</a:t>
            </a:r>
            <a:endParaRPr lang="en-US" sz="1800" dirty="0">
              <a:latin typeface="Helvetical"/>
            </a:endParaRPr>
          </a:p>
          <a:p>
            <a:pPr marL="0" indent="0">
              <a:buClr>
                <a:schemeClr val="accent4"/>
              </a:buClr>
              <a:buNone/>
            </a:pPr>
            <a:r>
              <a:rPr lang="en-US" sz="1800" dirty="0">
                <a:latin typeface="Helvetical"/>
                <a:ea typeface="Open Sans" pitchFamily="34" charset="-122"/>
                <a:cs typeface="Open Sans" pitchFamily="34" charset="-120"/>
              </a:rPr>
              <a:t>University staff can manage reports more efficiently, freeing up time for other tasks.</a:t>
            </a:r>
            <a:endParaRPr lang="en-US" sz="1800" dirty="0">
              <a:latin typeface="Helvetical"/>
            </a:endParaRPr>
          </a:p>
          <a:p>
            <a:pPr>
              <a:buClr>
                <a:schemeClr val="accent4"/>
              </a:buClr>
              <a:buFont typeface="Wingdings" panose="05000000000000000000" pitchFamily="2" charset="2"/>
              <a:buChar char="ü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88541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954" y="929641"/>
            <a:ext cx="11664086" cy="1112519"/>
          </a:xfrm>
        </p:spPr>
        <p:txBody>
          <a:bodyPr>
            <a:noAutofit/>
          </a:bodyPr>
          <a:lstStyle/>
          <a:p>
            <a:r>
              <a:rPr lang="en-US" sz="4400" b="1" dirty="0"/>
              <a:t>📄 Explanation of the Business Process </a:t>
            </a:r>
            <a:r>
              <a:rPr lang="en-US" sz="4400" b="1" dirty="0" smtClean="0"/>
              <a:t>Model</a:t>
            </a:r>
            <a:endParaRPr lang="en-US" sz="44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23114" y="2228699"/>
            <a:ext cx="5705856" cy="484022"/>
          </a:xfrm>
        </p:spPr>
        <p:txBody>
          <a:bodyPr/>
          <a:lstStyle/>
          <a:p>
            <a:r>
              <a:rPr lang="en-US" dirty="0"/>
              <a:t>O</a:t>
            </a:r>
            <a:r>
              <a:rPr lang="en-US" dirty="0" smtClean="0"/>
              <a:t>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822960" y="2712721"/>
            <a:ext cx="7040880" cy="52577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 smtClean="0">
                <a:latin typeface="Helvetical"/>
              </a:rPr>
              <a:t>This </a:t>
            </a:r>
            <a:r>
              <a:rPr lang="en-US" sz="1800" dirty="0">
                <a:latin typeface="Helvetical"/>
              </a:rPr>
              <a:t>process model illustrates the flow of activities in a university’s </a:t>
            </a:r>
            <a:r>
              <a:rPr lang="en-US" sz="1800" b="1" dirty="0">
                <a:latin typeface="Helvetical"/>
              </a:rPr>
              <a:t>Lost &amp; Found Item Management System</a:t>
            </a:r>
            <a:r>
              <a:rPr lang="en-US" sz="1800" dirty="0">
                <a:latin typeface="Helvetical"/>
              </a:rPr>
              <a:t>, highlighting how Management Information Systems (MIS) support key operations such as item reporting, tracking, claim validation, and notifications.</a:t>
            </a:r>
          </a:p>
          <a:p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Main Components &amp; Interactions</a:t>
            </a:r>
          </a:p>
          <a:p>
            <a:r>
              <a:rPr lang="en-US" sz="1800" b="1" dirty="0">
                <a:latin typeface="Helvetical"/>
              </a:rPr>
              <a:t>Student/Staff</a:t>
            </a:r>
            <a:r>
              <a:rPr lang="en-US" sz="1800" dirty="0">
                <a:latin typeface="Helvetical"/>
              </a:rPr>
              <a:t>: Initiates the process by reporting a lost item or searching for it. They also submit claims when an item is found.</a:t>
            </a:r>
          </a:p>
          <a:p>
            <a:r>
              <a:rPr lang="en-US" sz="1800" b="1" dirty="0">
                <a:latin typeface="Helvetical"/>
              </a:rPr>
              <a:t>Administrator</a:t>
            </a:r>
            <a:r>
              <a:rPr lang="en-US" sz="1800" dirty="0">
                <a:latin typeface="Helvetical"/>
              </a:rPr>
              <a:t>: Manages item records, validates reported items and claims, and approves the return of found items.</a:t>
            </a:r>
          </a:p>
          <a:p>
            <a:r>
              <a:rPr lang="en-US" sz="1800" b="1" dirty="0">
                <a:latin typeface="Helvetical"/>
              </a:rPr>
              <a:t>Database</a:t>
            </a:r>
            <a:r>
              <a:rPr lang="en-US" sz="1800" dirty="0">
                <a:latin typeface="Helvetical"/>
              </a:rPr>
              <a:t>: Serves as the central data store where all item and claim details are securely stored and retrieved.</a:t>
            </a:r>
          </a:p>
          <a:p>
            <a:r>
              <a:rPr lang="en-US" sz="1800" b="1" dirty="0">
                <a:latin typeface="Helvetical"/>
              </a:rPr>
              <a:t>Claim Workflow System</a:t>
            </a:r>
            <a:r>
              <a:rPr lang="en-US" sz="1800" dirty="0">
                <a:latin typeface="Helvetical"/>
              </a:rPr>
              <a:t>: Automates the process of matching found items to reports and monitors claim progress.</a:t>
            </a:r>
          </a:p>
          <a:p>
            <a:r>
              <a:rPr lang="en-US" sz="1800" b="1" dirty="0">
                <a:latin typeface="Helvetical"/>
              </a:rPr>
              <a:t>Notification System</a:t>
            </a:r>
            <a:r>
              <a:rPr lang="en-US" sz="1800" dirty="0">
                <a:latin typeface="Helvetical"/>
              </a:rPr>
              <a:t>: Sends real-time updates to users (e.g., when their item is found or a claim is approved).</a:t>
            </a:r>
          </a:p>
          <a:p>
            <a:endParaRPr lang="en-US" sz="18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40626" y="2228699"/>
            <a:ext cx="5705856" cy="5361432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How It Supports MIS </a:t>
            </a:r>
            <a:r>
              <a:rPr lang="en-US" sz="1800" b="1" dirty="0" smtClean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Functions</a:t>
            </a:r>
            <a:endParaRPr lang="en-US" sz="1800" b="1" dirty="0">
              <a:solidFill>
                <a:schemeClr val="accent2">
                  <a:lumMod val="75000"/>
                </a:schemeClr>
              </a:solidFill>
              <a:latin typeface="Helvetical"/>
            </a:endParaRPr>
          </a:p>
          <a:p>
            <a:r>
              <a:rPr lang="en-US" sz="1800" b="1" dirty="0">
                <a:latin typeface="Helvetical"/>
              </a:rPr>
              <a:t>Improved Decision-Making</a:t>
            </a:r>
            <a:r>
              <a:rPr lang="en-US" sz="1800" dirty="0">
                <a:latin typeface="Helvetical"/>
              </a:rPr>
              <a:t>: Administrators access accurate, up-to-date data for validating claims.</a:t>
            </a:r>
          </a:p>
          <a:p>
            <a:r>
              <a:rPr lang="en-US" sz="1800" b="1" dirty="0">
                <a:latin typeface="Helvetical"/>
              </a:rPr>
              <a:t>Streamlined Operations</a:t>
            </a:r>
            <a:r>
              <a:rPr lang="en-US" sz="1800" dirty="0">
                <a:latin typeface="Helvetical"/>
              </a:rPr>
              <a:t>: Automated matching and notification reduce manual tasks.</a:t>
            </a:r>
          </a:p>
          <a:p>
            <a:r>
              <a:rPr lang="en-US" sz="1800" b="1" dirty="0">
                <a:latin typeface="Helvetical"/>
              </a:rPr>
              <a:t>Data Accuracy</a:t>
            </a:r>
            <a:r>
              <a:rPr lang="en-US" sz="1800" dirty="0">
                <a:latin typeface="Helvetical"/>
              </a:rPr>
              <a:t>: The centralized database minimizes record duplication or loss.</a:t>
            </a:r>
          </a:p>
          <a:p>
            <a:r>
              <a:rPr lang="en-US" sz="1800" b="1" dirty="0">
                <a:latin typeface="Helvetical"/>
              </a:rPr>
              <a:t>Transparency</a:t>
            </a:r>
            <a:r>
              <a:rPr lang="en-US" sz="1800" dirty="0">
                <a:latin typeface="Helvetical"/>
              </a:rPr>
              <a:t>: Real-time status updates and audit trails ensure accountability.</a:t>
            </a:r>
          </a:p>
          <a:p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Organizational Importance</a:t>
            </a:r>
          </a:p>
          <a:p>
            <a:r>
              <a:rPr lang="en-US" sz="1800" dirty="0">
                <a:latin typeface="Helvetical"/>
              </a:rPr>
              <a:t>This process enhances </a:t>
            </a:r>
            <a:r>
              <a:rPr lang="en-US" sz="1800" b="1" dirty="0">
                <a:latin typeface="Helvetical"/>
              </a:rPr>
              <a:t>efficiency</a:t>
            </a:r>
            <a:r>
              <a:rPr lang="en-US" sz="1800" dirty="0">
                <a:latin typeface="Helvetical"/>
              </a:rPr>
              <a:t> by reducing delays in item return, </a:t>
            </a:r>
            <a:r>
              <a:rPr lang="en-US" sz="1800" b="1" dirty="0">
                <a:latin typeface="Helvetical"/>
              </a:rPr>
              <a:t>accuracy</a:t>
            </a:r>
            <a:r>
              <a:rPr lang="en-US" sz="1800" dirty="0">
                <a:latin typeface="Helvetical"/>
              </a:rPr>
              <a:t> by securely managing records, and </a:t>
            </a:r>
            <a:r>
              <a:rPr lang="en-US" sz="1800" b="1" dirty="0">
                <a:latin typeface="Helvetical"/>
              </a:rPr>
              <a:t>user satisfaction</a:t>
            </a:r>
            <a:r>
              <a:rPr lang="en-US" sz="1800" dirty="0">
                <a:latin typeface="Helvetical"/>
              </a:rPr>
              <a:t> by offering a faster, tech-driven resolution process. It exemplifies how MIS can digitally transform traditional, manual workflows.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822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44806" y="192505"/>
            <a:ext cx="5705856" cy="796407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📘 1. Entity-Relationship (ER) Model</a:t>
            </a:r>
            <a:endParaRPr lang="en-US" sz="2400" dirty="0" smtClean="0">
              <a:solidFill>
                <a:schemeClr val="accent2">
                  <a:lumMod val="75000"/>
                </a:schemeClr>
              </a:solidFill>
              <a:latin typeface="Helvetical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27220" y="0"/>
            <a:ext cx="6272879" cy="794084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 smtClean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5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. Ensure Logical </a:t>
            </a:r>
            <a:r>
              <a:rPr lang="en-US" sz="1800" dirty="0" smtClean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Flow</a:t>
            </a:r>
          </a:p>
          <a:p>
            <a:r>
              <a:rPr lang="en-US" sz="1800" dirty="0">
                <a:latin typeface="Helvetical"/>
              </a:rPr>
              <a:t>Basic process flow</a:t>
            </a:r>
            <a:r>
              <a:rPr lang="en-US" sz="1800" dirty="0" smtClean="0">
                <a:latin typeface="Helvetical"/>
              </a:rPr>
              <a:t>:</a:t>
            </a:r>
          </a:p>
          <a:p>
            <a:r>
              <a:rPr lang="en-US" sz="1800" dirty="0">
                <a:latin typeface="Helvetical"/>
              </a:rPr>
              <a:t>[Student/Staff] → Report Lost Item → </a:t>
            </a:r>
          </a:p>
          <a:p>
            <a:r>
              <a:rPr lang="en-US" sz="1800" dirty="0">
                <a:latin typeface="Helvetical"/>
              </a:rPr>
              <a:t>[Database] → Store Item Info →</a:t>
            </a:r>
          </a:p>
          <a:p>
            <a:r>
              <a:rPr lang="en-US" sz="1800" dirty="0">
                <a:latin typeface="Helvetical"/>
              </a:rPr>
              <a:t>[Administrator] → Validate Report →</a:t>
            </a:r>
          </a:p>
          <a:p>
            <a:r>
              <a:rPr lang="en-US" sz="1800" dirty="0">
                <a:latin typeface="Helvetical"/>
              </a:rPr>
              <a:t>[Claim Workflow] → Monitor for Found Items →</a:t>
            </a:r>
          </a:p>
          <a:p>
            <a:r>
              <a:rPr lang="en-US" sz="1800" dirty="0">
                <a:latin typeface="Helvetical"/>
              </a:rPr>
              <a:t>[Administrator] → Approves Claim →</a:t>
            </a:r>
          </a:p>
          <a:p>
            <a:r>
              <a:rPr lang="en-US" sz="1800" dirty="0">
                <a:latin typeface="Helvetical"/>
              </a:rPr>
              <a:t>[Notification System] → Sends Notification →</a:t>
            </a:r>
          </a:p>
          <a:p>
            <a:r>
              <a:rPr lang="en-US" sz="1800" dirty="0">
                <a:latin typeface="Helvetical"/>
              </a:rPr>
              <a:t>[Student/Staff] → Receives Item → </a:t>
            </a:r>
            <a:r>
              <a:rPr lang="en-US" sz="1800" dirty="0" smtClean="0">
                <a:latin typeface="Helvetical"/>
              </a:rPr>
              <a:t>End </a:t>
            </a:r>
          </a:p>
          <a:p>
            <a:r>
              <a:rPr lang="en-US" sz="1900" dirty="0" smtClean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BPMN/UML Diagram</a:t>
            </a:r>
          </a:p>
          <a:p>
            <a:r>
              <a:rPr lang="en-US" sz="1800" dirty="0" smtClean="0">
                <a:latin typeface="Helvetical"/>
              </a:rPr>
              <a:t>.</a:t>
            </a:r>
          </a:p>
          <a:p>
            <a:r>
              <a:rPr lang="en-US" sz="1800" dirty="0" smtClean="0">
                <a:latin typeface="Helvetical"/>
              </a:rPr>
              <a:t>.</a:t>
            </a:r>
          </a:p>
          <a:p>
            <a:r>
              <a:rPr lang="en-US" sz="1800" dirty="0" smtClean="0">
                <a:latin typeface="Helvetical"/>
              </a:rPr>
              <a:t>.</a:t>
            </a:r>
          </a:p>
          <a:p>
            <a:r>
              <a:rPr lang="en-US" sz="1800" dirty="0" smtClean="0">
                <a:latin typeface="Helvetical"/>
              </a:rPr>
              <a:t>.</a:t>
            </a:r>
          </a:p>
          <a:p>
            <a:r>
              <a:rPr lang="en-US" sz="1800" dirty="0" smtClean="0">
                <a:latin typeface="Helvetical"/>
              </a:rPr>
              <a:t>.</a:t>
            </a:r>
          </a:p>
          <a:p>
            <a:r>
              <a:rPr lang="en-US" sz="1800" dirty="0" smtClean="0">
                <a:latin typeface="Helvetical"/>
              </a:rPr>
              <a:t>.</a:t>
            </a:r>
          </a:p>
          <a:p>
            <a:r>
              <a:rPr lang="en-US" sz="1800" dirty="0" smtClean="0">
                <a:latin typeface="Helvetical"/>
              </a:rPr>
              <a:t>.</a:t>
            </a:r>
          </a:p>
          <a:p>
            <a:r>
              <a:rPr lang="en-US" sz="1800" dirty="0" smtClean="0">
                <a:latin typeface="Helvetical"/>
              </a:rPr>
              <a:t>.</a:t>
            </a:r>
          </a:p>
          <a:p>
            <a:r>
              <a:rPr lang="en-US" sz="1800" dirty="0" smtClean="0">
                <a:latin typeface="Helvetical"/>
              </a:rPr>
              <a:t>.</a:t>
            </a:r>
          </a:p>
          <a:p>
            <a:r>
              <a:rPr lang="en-US" sz="1800" dirty="0" smtClean="0">
                <a:latin typeface="Helvetical"/>
              </a:rPr>
              <a:t>.</a:t>
            </a:r>
          </a:p>
          <a:p>
            <a:r>
              <a:rPr lang="en-US" sz="1800" dirty="0" smtClean="0">
                <a:latin typeface="Helvetical"/>
              </a:rPr>
              <a:t>.</a:t>
            </a:r>
          </a:p>
          <a:p>
            <a:r>
              <a:rPr lang="en-US" sz="1800" dirty="0" smtClean="0">
                <a:latin typeface="Helvetical"/>
              </a:rPr>
              <a:t>.</a:t>
            </a:r>
          </a:p>
          <a:p>
            <a:endParaRPr lang="en-US" sz="1800" dirty="0">
              <a:latin typeface="Helvetical"/>
            </a:endParaRPr>
          </a:p>
          <a:p>
            <a:endParaRPr lang="en-US" sz="1800" dirty="0" smtClean="0">
              <a:latin typeface="Helvetical"/>
            </a:endParaRPr>
          </a:p>
          <a:p>
            <a:endParaRPr lang="en-US" sz="1800" dirty="0">
              <a:latin typeface="Helvetical"/>
            </a:endParaRPr>
          </a:p>
          <a:p>
            <a:endParaRPr lang="en-US" sz="1800" dirty="0" smtClean="0">
              <a:latin typeface="Helvetical"/>
            </a:endParaRPr>
          </a:p>
          <a:p>
            <a:endParaRPr lang="en-US" sz="1800" dirty="0">
              <a:latin typeface="Helvetical"/>
            </a:endParaRPr>
          </a:p>
          <a:p>
            <a:endParaRPr lang="en-US" sz="1800" dirty="0" smtClean="0">
              <a:latin typeface="Helvetical"/>
            </a:endParaRPr>
          </a:p>
          <a:p>
            <a:endParaRPr lang="en-US" sz="1800" dirty="0">
              <a:latin typeface="Helvetical"/>
            </a:endParaRPr>
          </a:p>
          <a:p>
            <a:endParaRPr lang="en-US" sz="1800" dirty="0" smtClean="0">
              <a:latin typeface="Helvetical"/>
            </a:endParaRPr>
          </a:p>
          <a:p>
            <a:endParaRPr lang="en-US" sz="1800" dirty="0">
              <a:latin typeface="Helvetical"/>
            </a:endParaRPr>
          </a:p>
          <a:p>
            <a:endParaRPr lang="en-US" sz="1800" dirty="0">
              <a:latin typeface="Helvetical"/>
            </a:endParaRPr>
          </a:p>
          <a:p>
            <a:endParaRPr lang="en-US" sz="19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602" y="3482193"/>
            <a:ext cx="7121859" cy="44586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9461" y="750388"/>
            <a:ext cx="6910939" cy="5188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239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765" y="702259"/>
            <a:ext cx="11664086" cy="821741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Database Architecture – PDB, OEM &amp; SQL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28951" y="1524000"/>
            <a:ext cx="6551469" cy="6047232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Pluggable Database (PDB) Deployment</a:t>
            </a:r>
          </a:p>
          <a:p>
            <a:r>
              <a:rPr lang="en-US" dirty="0" smtClean="0">
                <a:latin typeface="Helvetical"/>
              </a:rPr>
              <a:t>The </a:t>
            </a:r>
            <a:r>
              <a:rPr lang="en-US" dirty="0">
                <a:latin typeface="Helvetical"/>
              </a:rPr>
              <a:t>system runs inside a dedicated pluggable database, created to isolate all project components.</a:t>
            </a:r>
          </a:p>
          <a:p>
            <a:r>
              <a:rPr lang="en-US" dirty="0" smtClean="0">
                <a:latin typeface="Helvetical"/>
              </a:rPr>
              <a:t>Ensures </a:t>
            </a:r>
            <a:r>
              <a:rPr lang="en-US" dirty="0">
                <a:latin typeface="Helvetical"/>
              </a:rPr>
              <a:t>clean separation from other databases in a multitenant environment.</a:t>
            </a:r>
          </a:p>
          <a:p>
            <a:r>
              <a:rPr lang="en-US" dirty="0" smtClean="0">
                <a:latin typeface="Helvetical"/>
              </a:rPr>
              <a:t>Benefits</a:t>
            </a:r>
            <a:r>
              <a:rPr lang="en-US" dirty="0">
                <a:latin typeface="Helvetical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Helvetical"/>
              </a:rPr>
              <a:t>Better </a:t>
            </a:r>
            <a:r>
              <a:rPr lang="en-US" dirty="0">
                <a:latin typeface="Helvetical"/>
              </a:rPr>
              <a:t>data management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Helvetical"/>
              </a:rPr>
              <a:t>Easy </a:t>
            </a:r>
            <a:r>
              <a:rPr lang="en-US" dirty="0">
                <a:latin typeface="Helvetical"/>
              </a:rPr>
              <a:t>to open, close, and maintain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Helvetical"/>
              </a:rPr>
              <a:t>Reusable </a:t>
            </a:r>
            <a:r>
              <a:rPr lang="en-US" dirty="0">
                <a:latin typeface="Helvetical"/>
              </a:rPr>
              <a:t>across institutional </a:t>
            </a:r>
            <a:r>
              <a:rPr lang="en-US" dirty="0" smtClean="0">
                <a:latin typeface="Helvetical"/>
              </a:rPr>
              <a:t>deployments</a:t>
            </a:r>
            <a:endParaRPr lang="en-US" dirty="0">
              <a:latin typeface="Helvetical"/>
            </a:endParaRPr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Oracle Enterprise Manager (OEM) Monitoring</a:t>
            </a:r>
          </a:p>
          <a:p>
            <a:r>
              <a:rPr lang="en-US" dirty="0" smtClean="0">
                <a:latin typeface="Helvetical"/>
              </a:rPr>
              <a:t>OEM </a:t>
            </a:r>
            <a:r>
              <a:rPr lang="en-US" dirty="0">
                <a:latin typeface="Helvetical"/>
              </a:rPr>
              <a:t>provided a graphical interface to: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Helvetical"/>
              </a:rPr>
              <a:t>View </a:t>
            </a:r>
            <a:r>
              <a:rPr lang="en-US" dirty="0">
                <a:latin typeface="Helvetical"/>
              </a:rPr>
              <a:t>and manage users, sessions, storage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Helvetical"/>
              </a:rPr>
              <a:t>Confirm </a:t>
            </a:r>
            <a:r>
              <a:rPr lang="en-US" dirty="0">
                <a:latin typeface="Helvetical"/>
              </a:rPr>
              <a:t>trigger executions and constraints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Helvetical"/>
              </a:rPr>
              <a:t>Monitor </a:t>
            </a:r>
            <a:r>
              <a:rPr lang="en-US" dirty="0">
                <a:latin typeface="Helvetical"/>
              </a:rPr>
              <a:t>audit trails and system performance</a:t>
            </a:r>
          </a:p>
          <a:p>
            <a:r>
              <a:rPr lang="en-US" dirty="0" smtClean="0">
                <a:latin typeface="Helvetical"/>
              </a:rPr>
              <a:t>Helped </a:t>
            </a:r>
            <a:r>
              <a:rPr lang="en-US" dirty="0">
                <a:latin typeface="Helvetical"/>
              </a:rPr>
              <a:t>validate the correct implementation of relationships and logic.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7836" y="1524000"/>
            <a:ext cx="5705856" cy="5870769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DDL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vs.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DML in the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System</a:t>
            </a:r>
          </a:p>
          <a:p>
            <a:endParaRPr lang="en-US" dirty="0">
              <a:solidFill>
                <a:schemeClr val="accent2">
                  <a:lumMod val="75000"/>
                </a:schemeClr>
              </a:solidFill>
              <a:latin typeface="Helvetical"/>
            </a:endParaRPr>
          </a:p>
          <a:p>
            <a:r>
              <a:rPr lang="en-US" dirty="0" smtClean="0">
                <a:latin typeface="Helvetical"/>
              </a:rPr>
              <a:t>DDL </a:t>
            </a:r>
            <a:r>
              <a:rPr lang="en-US" dirty="0">
                <a:latin typeface="Helvetical"/>
              </a:rPr>
              <a:t>(Data Definition Language):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Helvetical"/>
              </a:rPr>
              <a:t>Used </a:t>
            </a:r>
            <a:r>
              <a:rPr lang="en-US" dirty="0">
                <a:latin typeface="Helvetical"/>
              </a:rPr>
              <a:t>to create physical tables, triggers, and packages</a:t>
            </a:r>
          </a:p>
          <a:p>
            <a:r>
              <a:rPr lang="en-US" dirty="0" smtClean="0">
                <a:latin typeface="Helvetical"/>
              </a:rPr>
              <a:t>Examples</a:t>
            </a:r>
            <a:r>
              <a:rPr lang="en-US" dirty="0">
                <a:latin typeface="Helvetical"/>
              </a:rPr>
              <a:t>: CREATE TABLE, ALTER, DROP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Helvetical"/>
              </a:rPr>
              <a:t>Ensures </a:t>
            </a:r>
            <a:r>
              <a:rPr lang="en-US" dirty="0">
                <a:latin typeface="Helvetical"/>
              </a:rPr>
              <a:t>data structure reflects the ER </a:t>
            </a:r>
            <a:r>
              <a:rPr lang="en-US" dirty="0" smtClean="0">
                <a:latin typeface="Helvetical"/>
              </a:rPr>
              <a:t>model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Helvetical"/>
            </a:endParaRPr>
          </a:p>
          <a:p>
            <a:r>
              <a:rPr lang="en-US" dirty="0" smtClean="0">
                <a:latin typeface="Helvetical"/>
              </a:rPr>
              <a:t>DML </a:t>
            </a:r>
            <a:r>
              <a:rPr lang="en-US" dirty="0">
                <a:latin typeface="Helvetical"/>
              </a:rPr>
              <a:t>(Data Manipulation Language):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Helvetical"/>
              </a:rPr>
              <a:t>Used </a:t>
            </a:r>
            <a:r>
              <a:rPr lang="en-US" dirty="0">
                <a:latin typeface="Helvetical"/>
              </a:rPr>
              <a:t>to insert, update, and delete sample data</a:t>
            </a:r>
          </a:p>
          <a:p>
            <a:r>
              <a:rPr lang="en-US" dirty="0" smtClean="0">
                <a:latin typeface="Helvetical"/>
              </a:rPr>
              <a:t>Examples</a:t>
            </a:r>
            <a:r>
              <a:rPr lang="en-US" dirty="0">
                <a:latin typeface="Helvetical"/>
              </a:rPr>
              <a:t>: INSERT INTO, UPDATE, DELETE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Helvetical"/>
              </a:rPr>
              <a:t>Simulates </a:t>
            </a:r>
            <a:r>
              <a:rPr lang="en-US" dirty="0">
                <a:latin typeface="Helvetical"/>
              </a:rPr>
              <a:t>user actions and verifies business logic (e.g., lost item reports, claims)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040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2767" y="1064672"/>
            <a:ext cx="11664086" cy="1187501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PL/SQL Programming (Procedures, Functions, Packages)</a:t>
            </a:r>
            <a:endParaRPr lang="en-US" sz="2800" dirty="0">
              <a:solidFill>
                <a:schemeClr val="accent2">
                  <a:lumMod val="75000"/>
                </a:schemeClr>
              </a:solidFill>
              <a:latin typeface="Helvetical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28954" y="2582778"/>
            <a:ext cx="5705856" cy="5646821"/>
          </a:xfrm>
        </p:spPr>
        <p:txBody>
          <a:bodyPr>
            <a:normAutofit/>
          </a:bodyPr>
          <a:lstStyle/>
          <a:p>
            <a:pPr lvl="0"/>
            <a:r>
              <a:rPr lang="en-US" sz="2000" dirty="0">
                <a:latin typeface="Helvetical"/>
              </a:rPr>
              <a:t>“In this part of the project, I focused on building core backend logic using PL/SQL.</a:t>
            </a:r>
            <a:br>
              <a:rPr lang="en-US" sz="2000" dirty="0">
                <a:latin typeface="Helvetical"/>
              </a:rPr>
            </a:br>
            <a:r>
              <a:rPr lang="en-US" sz="2000" dirty="0">
                <a:latin typeface="Helvetical"/>
              </a:rPr>
              <a:t>We implemented </a:t>
            </a:r>
            <a:r>
              <a:rPr lang="en-US" sz="2000" b="1" dirty="0">
                <a:latin typeface="Helvetical"/>
              </a:rPr>
              <a:t>procedures</a:t>
            </a:r>
            <a:r>
              <a:rPr lang="en-US" sz="2000" dirty="0">
                <a:latin typeface="Helvetical"/>
              </a:rPr>
              <a:t> to handle common operations such as inserting and approving claims, fetching lost or found item data, and sending status updates to users. These procedures helped modularize the system and made our </a:t>
            </a:r>
            <a:r>
              <a:rPr lang="en-US" sz="2000" dirty="0" smtClean="0">
                <a:latin typeface="Helvetical"/>
              </a:rPr>
              <a:t>code </a:t>
            </a:r>
            <a:r>
              <a:rPr lang="en-US" sz="2000" dirty="0">
                <a:latin typeface="Helvetical"/>
              </a:rPr>
              <a:t>reusable and maintainable</a:t>
            </a:r>
            <a:r>
              <a:rPr lang="en-US" sz="2000" dirty="0" smtClean="0">
                <a:latin typeface="Helvetical"/>
              </a:rPr>
              <a:t>.</a:t>
            </a:r>
          </a:p>
          <a:p>
            <a:pPr lvl="0"/>
            <a:r>
              <a:rPr lang="en-US" sz="2000" dirty="0">
                <a:latin typeface="Helvetical"/>
              </a:rPr>
              <a:t>Alongside that, I created </a:t>
            </a:r>
            <a:r>
              <a:rPr lang="en-US" sz="2000" b="1" dirty="0">
                <a:latin typeface="Helvetical"/>
              </a:rPr>
              <a:t>functions</a:t>
            </a:r>
            <a:r>
              <a:rPr lang="en-US" sz="2000" dirty="0">
                <a:latin typeface="Helvetical"/>
              </a:rPr>
              <a:t> to return specific values — for instance, whether a claim was valid, or what its current status is. These functions helped streamline our decision-making processes inside both triggers and packages.</a:t>
            </a:r>
            <a:endParaRPr lang="en-US" sz="2000" dirty="0">
              <a:latin typeface="Helvetical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83116" y="2252172"/>
            <a:ext cx="7210124" cy="5761019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Helvetical"/>
              </a:rPr>
              <a:t>To keep the logic organized, I bundled related code into </a:t>
            </a:r>
            <a:r>
              <a:rPr lang="en-US" sz="2000" b="1" dirty="0">
                <a:latin typeface="Helvetical"/>
              </a:rPr>
              <a:t>PL/SQL packages</a:t>
            </a:r>
            <a:r>
              <a:rPr lang="en-US" sz="2000" dirty="0">
                <a:latin typeface="Helvetical"/>
              </a:rPr>
              <a:t>. One example is the audit package, which holds the procedure that all audit triggers use. This made it easy to call a single standardized function across the entire system.</a:t>
            </a:r>
          </a:p>
          <a:p>
            <a:r>
              <a:rPr lang="en-US" sz="2000" dirty="0">
                <a:latin typeface="Helvetical"/>
              </a:rPr>
              <a:t>Lastly, I used </a:t>
            </a:r>
            <a:r>
              <a:rPr lang="en-US" sz="2000" b="1" dirty="0">
                <a:latin typeface="Helvetical"/>
              </a:rPr>
              <a:t>cursors</a:t>
            </a:r>
            <a:r>
              <a:rPr lang="en-US" sz="2000" dirty="0">
                <a:latin typeface="Helvetical"/>
              </a:rPr>
              <a:t> to fetch multiple rows — especially helpful when generating reports or reviewing multiple item statuses — and added </a:t>
            </a:r>
            <a:r>
              <a:rPr lang="en-US" sz="2000" b="1" dirty="0">
                <a:latin typeface="Helvetical"/>
              </a:rPr>
              <a:t>exception handling</a:t>
            </a:r>
            <a:r>
              <a:rPr lang="en-US" sz="2000" dirty="0">
                <a:latin typeface="Helvetical"/>
              </a:rPr>
              <a:t> to ensure the system remains stable, even when faced with invalid inputs or unexpected scenarios.</a:t>
            </a:r>
          </a:p>
          <a:p>
            <a:r>
              <a:rPr lang="en-US" sz="2000" dirty="0">
                <a:latin typeface="Helvetical"/>
              </a:rPr>
              <a:t>This level of modular programming makes the system clean, efficient, and much easier to maintain or upgrade in the future.”</a:t>
            </a:r>
          </a:p>
          <a:p>
            <a:pPr lvl="0"/>
            <a:endParaRPr lang="en-US" dirty="0" smtClean="0"/>
          </a:p>
          <a:p>
            <a:pPr lvl="0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388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89066" y="2069433"/>
            <a:ext cx="6783608" cy="5501800"/>
          </a:xfrm>
        </p:spPr>
        <p:txBody>
          <a:bodyPr/>
          <a:lstStyle/>
          <a:p>
            <a:r>
              <a:rPr lang="en-US" sz="2000" dirty="0">
                <a:latin typeface="Helvetical"/>
              </a:rPr>
              <a:t>If any condition matches, the trigger </a:t>
            </a:r>
            <a:r>
              <a:rPr lang="en-US" sz="2000" b="1" dirty="0">
                <a:latin typeface="Helvetical"/>
              </a:rPr>
              <a:t>blocks the operation automatically</a:t>
            </a:r>
            <a:r>
              <a:rPr lang="en-US" sz="2000" dirty="0">
                <a:latin typeface="Helvetical"/>
              </a:rPr>
              <a:t>, and returns a custom error message.</a:t>
            </a:r>
          </a:p>
          <a:p>
            <a:r>
              <a:rPr lang="en-US" sz="2000" dirty="0">
                <a:latin typeface="Helvetical"/>
              </a:rPr>
              <a:t>This logic ensures that sensitive modifications — such as altering item status or deleting claim records — </a:t>
            </a:r>
            <a:r>
              <a:rPr lang="en-US" sz="2000" b="1" dirty="0">
                <a:latin typeface="Helvetical"/>
              </a:rPr>
              <a:t>cannot be done during off-hours</a:t>
            </a:r>
            <a:r>
              <a:rPr lang="en-US" sz="2000" dirty="0">
                <a:latin typeface="Helvetical"/>
              </a:rPr>
              <a:t> or when admins are not present.</a:t>
            </a:r>
          </a:p>
          <a:p>
            <a:r>
              <a:rPr lang="en-US" sz="2000" dirty="0">
                <a:latin typeface="Helvetical"/>
              </a:rPr>
              <a:t>It adds an important </a:t>
            </a:r>
            <a:r>
              <a:rPr lang="en-US" sz="2000" b="1" dirty="0">
                <a:latin typeface="Helvetical"/>
              </a:rPr>
              <a:t>layer of operational control and data protection</a:t>
            </a:r>
            <a:r>
              <a:rPr lang="en-US" sz="2000" dirty="0">
                <a:latin typeface="Helvetical"/>
              </a:rPr>
              <a:t>, which is especially important for maintaining institutional policy and preventing mistakes or unauthorized access.”</a:t>
            </a:r>
          </a:p>
          <a:p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half" idx="2"/>
          </p:nvPr>
        </p:nvSpPr>
        <p:spPr>
          <a:xfrm>
            <a:off x="1228954" y="1090863"/>
            <a:ext cx="5705856" cy="6480369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Triggers &amp; </a:t>
            </a:r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Restrictions</a:t>
            </a:r>
          </a:p>
          <a:p>
            <a:endParaRPr lang="en-US" sz="2800" dirty="0">
              <a:solidFill>
                <a:schemeClr val="accent2">
                  <a:lumMod val="75000"/>
                </a:schemeClr>
              </a:solidFill>
              <a:latin typeface="Helvetical"/>
            </a:endParaRPr>
          </a:p>
          <a:p>
            <a:r>
              <a:rPr lang="en-US" sz="2000" dirty="0">
                <a:latin typeface="Helvetical"/>
              </a:rPr>
              <a:t>“One of the more advanced and important parts of this project is the use of </a:t>
            </a:r>
            <a:r>
              <a:rPr lang="en-US" sz="2000" b="1" dirty="0">
                <a:latin typeface="Helvetical"/>
              </a:rPr>
              <a:t>database triggers</a:t>
            </a:r>
            <a:r>
              <a:rPr lang="en-US" sz="2000" dirty="0">
                <a:latin typeface="Helvetical"/>
              </a:rPr>
              <a:t> for business rule enforcement — specifically, restriction rules.</a:t>
            </a:r>
          </a:p>
          <a:p>
            <a:r>
              <a:rPr lang="en-US" sz="2000" dirty="0">
                <a:latin typeface="Helvetical"/>
              </a:rPr>
              <a:t>I implemented a trigger that </a:t>
            </a:r>
            <a:r>
              <a:rPr lang="en-US" sz="2000" b="1" dirty="0">
                <a:latin typeface="Helvetical"/>
              </a:rPr>
              <a:t>prevents any insert, update, or delete operation</a:t>
            </a:r>
            <a:r>
              <a:rPr lang="en-US" sz="2000" dirty="0">
                <a:latin typeface="Helvetical"/>
              </a:rPr>
              <a:t> on the Item table </a:t>
            </a:r>
            <a:r>
              <a:rPr lang="en-US" sz="2000" b="1" dirty="0">
                <a:latin typeface="Helvetical"/>
              </a:rPr>
              <a:t>during weekdays</a:t>
            </a:r>
            <a:r>
              <a:rPr lang="en-US" sz="2000" dirty="0">
                <a:latin typeface="Helvetical"/>
              </a:rPr>
              <a:t> and also on </a:t>
            </a:r>
            <a:r>
              <a:rPr lang="en-US" sz="2000" b="1" dirty="0">
                <a:latin typeface="Helvetical"/>
              </a:rPr>
              <a:t>public holidays</a:t>
            </a:r>
            <a:r>
              <a:rPr lang="en-US" sz="2000" dirty="0">
                <a:latin typeface="Helvetical"/>
              </a:rPr>
              <a:t>.</a:t>
            </a:r>
          </a:p>
          <a:p>
            <a:r>
              <a:rPr lang="en-US" sz="2000" dirty="0">
                <a:latin typeface="Helvetical"/>
              </a:rPr>
              <a:t>To achieve this, I first created a Holidays table that stores dates considered non-working days. The trigger uses system functions like SYSDATE and TO_CHAR to check if the current day is Monday to Friday, and then also checks against the list of </a:t>
            </a:r>
            <a:r>
              <a:rPr lang="en-US" dirty="0"/>
              <a:t>holidays.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922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954" y="702259"/>
            <a:ext cx="11664086" cy="1019861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Auditing &amp; Logging</a:t>
            </a:r>
            <a:endParaRPr lang="en-US" sz="3200" dirty="0">
              <a:solidFill>
                <a:schemeClr val="accent2">
                  <a:lumMod val="75000"/>
                </a:schemeClr>
              </a:solidFill>
              <a:latin typeface="Helvetical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0617" y="2229853"/>
            <a:ext cx="5705856" cy="547035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dirty="0" smtClean="0">
              <a:latin typeface="Helvetical"/>
            </a:endParaRPr>
          </a:p>
          <a:p>
            <a:pPr marL="0" indent="0">
              <a:buNone/>
            </a:pPr>
            <a:r>
              <a:rPr lang="en-US" dirty="0" smtClean="0">
                <a:latin typeface="Helvetical"/>
              </a:rPr>
              <a:t>“</a:t>
            </a:r>
            <a:r>
              <a:rPr lang="en-US" dirty="0">
                <a:latin typeface="Helvetical"/>
              </a:rPr>
              <a:t>To ensure full transparency and accountability in this system, I implemented a complete </a:t>
            </a:r>
            <a:r>
              <a:rPr lang="en-US" b="1" dirty="0">
                <a:latin typeface="Helvetical"/>
              </a:rPr>
              <a:t>auditing mechanism</a:t>
            </a:r>
            <a:r>
              <a:rPr lang="en-US" dirty="0">
                <a:latin typeface="Helvetical"/>
              </a:rPr>
              <a:t>.</a:t>
            </a:r>
          </a:p>
          <a:p>
            <a:r>
              <a:rPr lang="en-US" dirty="0">
                <a:latin typeface="Helvetical"/>
              </a:rPr>
              <a:t>Every time a user performs a sensitive operation — like inserting, updating, or deleting from the Claim, Users, or </a:t>
            </a:r>
            <a:r>
              <a:rPr lang="en-US" dirty="0" err="1">
                <a:latin typeface="Helvetical"/>
              </a:rPr>
              <a:t>FoundItem</a:t>
            </a:r>
            <a:r>
              <a:rPr lang="en-US" dirty="0">
                <a:latin typeface="Helvetical"/>
              </a:rPr>
              <a:t> tables — an </a:t>
            </a:r>
            <a:r>
              <a:rPr lang="en-US" b="1" dirty="0">
                <a:latin typeface="Helvetical"/>
              </a:rPr>
              <a:t>audit trigger</a:t>
            </a:r>
            <a:r>
              <a:rPr lang="en-US" dirty="0">
                <a:latin typeface="Helvetical"/>
              </a:rPr>
              <a:t> records it automatically.</a:t>
            </a:r>
          </a:p>
          <a:p>
            <a:r>
              <a:rPr lang="en-US" dirty="0">
                <a:latin typeface="Helvetical"/>
              </a:rPr>
              <a:t>All this activity is logged into an </a:t>
            </a:r>
            <a:r>
              <a:rPr lang="en-US" dirty="0" err="1">
                <a:latin typeface="Helvetical"/>
              </a:rPr>
              <a:t>AuditLog</a:t>
            </a:r>
            <a:r>
              <a:rPr lang="en-US" dirty="0">
                <a:latin typeface="Helvetical"/>
              </a:rPr>
              <a:t> table, which captures:</a:t>
            </a:r>
          </a:p>
          <a:p>
            <a:pPr lvl="0"/>
            <a:r>
              <a:rPr lang="en-US" dirty="0">
                <a:latin typeface="Helvetical"/>
              </a:rPr>
              <a:t>The </a:t>
            </a:r>
            <a:r>
              <a:rPr lang="en-US" b="1" dirty="0">
                <a:latin typeface="Helvetical"/>
              </a:rPr>
              <a:t>user ID</a:t>
            </a:r>
            <a:r>
              <a:rPr lang="en-US" dirty="0">
                <a:latin typeface="Helvetical"/>
              </a:rPr>
              <a:t> (using the current session info),</a:t>
            </a:r>
          </a:p>
          <a:p>
            <a:pPr lvl="0"/>
            <a:r>
              <a:rPr lang="en-US" dirty="0">
                <a:latin typeface="Helvetical"/>
              </a:rPr>
              <a:t>The </a:t>
            </a:r>
            <a:r>
              <a:rPr lang="en-US" b="1" dirty="0">
                <a:latin typeface="Helvetical"/>
              </a:rPr>
              <a:t>type of operation</a:t>
            </a:r>
            <a:r>
              <a:rPr lang="en-US" dirty="0">
                <a:latin typeface="Helvetical"/>
              </a:rPr>
              <a:t> (like INSERT, DELETE),</a:t>
            </a:r>
          </a:p>
          <a:p>
            <a:pPr lvl="0"/>
            <a:r>
              <a:rPr lang="en-US" dirty="0">
                <a:latin typeface="Helvetical"/>
              </a:rPr>
              <a:t>The </a:t>
            </a:r>
            <a:r>
              <a:rPr lang="en-US" b="1" dirty="0">
                <a:latin typeface="Helvetical"/>
              </a:rPr>
              <a:t>table name</a:t>
            </a:r>
            <a:r>
              <a:rPr lang="en-US" dirty="0">
                <a:latin typeface="Helvetical"/>
              </a:rPr>
              <a:t> affected,</a:t>
            </a:r>
          </a:p>
          <a:p>
            <a:pPr lvl="0"/>
            <a:r>
              <a:rPr lang="en-US" dirty="0">
                <a:latin typeface="Helvetical"/>
              </a:rPr>
              <a:t>A </a:t>
            </a:r>
            <a:r>
              <a:rPr lang="en-US" b="1" dirty="0">
                <a:latin typeface="Helvetical"/>
              </a:rPr>
              <a:t>timestamp</a:t>
            </a:r>
            <a:r>
              <a:rPr lang="en-US" dirty="0">
                <a:latin typeface="Helvetical"/>
              </a:rPr>
              <a:t> of the action,</a:t>
            </a:r>
          </a:p>
          <a:p>
            <a:r>
              <a:rPr lang="en-US" dirty="0">
                <a:latin typeface="Helvetical"/>
              </a:rPr>
              <a:t>And a </a:t>
            </a:r>
            <a:r>
              <a:rPr lang="en-US" b="1" dirty="0">
                <a:latin typeface="Helvetical"/>
              </a:rPr>
              <a:t>status flag</a:t>
            </a:r>
            <a:r>
              <a:rPr lang="en-US" dirty="0">
                <a:latin typeface="Helvetical"/>
              </a:rPr>
              <a:t> indicating if the action was allowed or denied.</a:t>
            </a:r>
            <a:endParaRPr lang="en-US" dirty="0">
              <a:latin typeface="Helvetical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89066" y="2855495"/>
            <a:ext cx="5705856" cy="4715737"/>
          </a:xfrm>
        </p:spPr>
        <p:txBody>
          <a:bodyPr>
            <a:normAutofit lnSpcReduction="10000"/>
          </a:bodyPr>
          <a:lstStyle/>
          <a:p>
            <a:r>
              <a:rPr lang="en-US" sz="2200" dirty="0">
                <a:latin typeface="Helvetical"/>
              </a:rPr>
              <a:t>To avoid repeating logging logic in every trigger, I created a </a:t>
            </a:r>
            <a:r>
              <a:rPr lang="en-US" sz="2200" b="1" dirty="0">
                <a:latin typeface="Helvetical"/>
              </a:rPr>
              <a:t>PL/SQL package called </a:t>
            </a:r>
            <a:r>
              <a:rPr lang="en-US" sz="2200" b="1" dirty="0" err="1">
                <a:latin typeface="Helvetical"/>
              </a:rPr>
              <a:t>pkg_audit_log</a:t>
            </a:r>
            <a:r>
              <a:rPr lang="en-US" sz="2200" dirty="0">
                <a:latin typeface="Helvetical"/>
              </a:rPr>
              <a:t>. This allows every audit trigger to just call a standard procedure — keeping the code </a:t>
            </a:r>
            <a:r>
              <a:rPr lang="en-US" sz="2200" b="1" dirty="0">
                <a:latin typeface="Helvetical"/>
              </a:rPr>
              <a:t>clean, consistent, and easy to manage</a:t>
            </a:r>
            <a:r>
              <a:rPr lang="en-US" sz="2200" dirty="0">
                <a:latin typeface="Helvetical"/>
              </a:rPr>
              <a:t>.</a:t>
            </a:r>
          </a:p>
          <a:p>
            <a:r>
              <a:rPr lang="en-US" sz="2200" dirty="0">
                <a:latin typeface="Helvetical"/>
              </a:rPr>
              <a:t>This approach not only improves security, but it also aligns with </a:t>
            </a:r>
            <a:r>
              <a:rPr lang="en-US" sz="2200" b="1" dirty="0">
                <a:latin typeface="Helvetical"/>
              </a:rPr>
              <a:t>MIS best practices</a:t>
            </a:r>
            <a:r>
              <a:rPr lang="en-US" sz="2200" dirty="0">
                <a:latin typeface="Helvetical"/>
              </a:rPr>
              <a:t> by creating a full </a:t>
            </a:r>
            <a:r>
              <a:rPr lang="en-US" sz="2200" b="1" dirty="0">
                <a:latin typeface="Helvetical"/>
              </a:rPr>
              <a:t>audit trail</a:t>
            </a:r>
            <a:r>
              <a:rPr lang="en-US" sz="2200" dirty="0">
                <a:latin typeface="Helvetical"/>
              </a:rPr>
              <a:t>. This could later be used for reporting, investigation, or even legal verification of user activity.</a:t>
            </a:r>
          </a:p>
          <a:p>
            <a:r>
              <a:rPr lang="en-US" sz="2200" dirty="0">
                <a:latin typeface="Helvetical"/>
              </a:rPr>
              <a:t>Overall, it reinforces both the </a:t>
            </a:r>
            <a:r>
              <a:rPr lang="en-US" sz="2200" b="1" dirty="0">
                <a:latin typeface="Helvetical"/>
              </a:rPr>
              <a:t>trustworthiness and accountability</a:t>
            </a:r>
            <a:r>
              <a:rPr lang="en-US" sz="2200" dirty="0">
                <a:latin typeface="Helvetical"/>
              </a:rPr>
              <a:t> of the system.”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870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🏁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Helvetical"/>
              </a:rPr>
              <a:t>Slide 10: Conclusion</a:t>
            </a:r>
            <a:endParaRPr lang="en-US" sz="3600" dirty="0">
              <a:solidFill>
                <a:schemeClr val="accent2">
                  <a:lumMod val="75000"/>
                </a:schemeClr>
              </a:solidFill>
              <a:latin typeface="Helvetical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28955" y="2956616"/>
            <a:ext cx="11664086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000" dirty="0" smtClean="0">
                <a:latin typeface="Helvetical"/>
              </a:rPr>
              <a:t>I 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Helvetical"/>
              </a:rPr>
              <a:t>developed a secure, efficient, and modular Lost &amp; Found Management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Helvetical"/>
              </a:rPr>
              <a:t>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Helvetical"/>
              </a:rPr>
              <a:t>  It includes: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Helvetical"/>
              </a:rPr>
              <a:t>Physical &amp; logical database design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Helvetical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Helvetical"/>
              </a:rPr>
              <a:t>Workflow automation (via BPMN)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Helvetical"/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Helvetical"/>
              </a:rPr>
              <a:t>Security through triggers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Helvetical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Helvetical"/>
              </a:rPr>
              <a:t>Auditing for accountability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Helvetic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Helvetical"/>
              </a:rPr>
              <a:t>This system can be scaled for use in other departments or institutions.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Helvetic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Helvetical"/>
            </a:endParaRPr>
          </a:p>
          <a:p>
            <a:pPr marL="0" lvl="0" indent="0" algn="ctr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Helvetical"/>
              </a:rPr>
              <a:t>"This project gave me hands-on experience in real-world database development using Oracle tools, and I’m proud to present a complete solution that could be implemented and used effectively in academic environments."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Helvetical"/>
            </a:endParaRPr>
          </a:p>
        </p:txBody>
      </p:sp>
    </p:spTree>
    <p:extLst>
      <p:ext uri="{BB962C8B-B14F-4D97-AF65-F5344CB8AC3E}">
        <p14:creationId xmlns:p14="http://schemas.microsoft.com/office/powerpoint/2010/main" val="16506978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4825F1AF-8DBC-4E3D-9F3D-688338DA83F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2929</TotalTime>
  <Words>1333</Words>
  <Application>Microsoft Office PowerPoint</Application>
  <PresentationFormat>Custom</PresentationFormat>
  <Paragraphs>149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Instrument Sans Medium</vt:lpstr>
      <vt:lpstr>Open Sans</vt:lpstr>
      <vt:lpstr>Tw Cen MT</vt:lpstr>
      <vt:lpstr>Wingdings 3</vt:lpstr>
      <vt:lpstr>Calibri</vt:lpstr>
      <vt:lpstr>Wingdings</vt:lpstr>
      <vt:lpstr>Helvetical</vt:lpstr>
      <vt:lpstr>Tw Cen MT Condensed</vt:lpstr>
      <vt:lpstr>Arial</vt:lpstr>
      <vt:lpstr>Integral</vt:lpstr>
      <vt:lpstr>PowerPoint Presentation</vt:lpstr>
      <vt:lpstr>PowerPoint Presentation</vt:lpstr>
      <vt:lpstr> Technical Framework &amp; Benefits </vt:lpstr>
      <vt:lpstr>📄 Explanation of the Business Process Model</vt:lpstr>
      <vt:lpstr>PowerPoint Presentation</vt:lpstr>
      <vt:lpstr>Database Architecture – PDB, OEM &amp; SQL Operations</vt:lpstr>
      <vt:lpstr>PL/SQL Programming (Procedures, Functions, Packages)</vt:lpstr>
      <vt:lpstr>PowerPoint Presentation</vt:lpstr>
      <vt:lpstr>Auditing &amp; Logging</vt:lpstr>
      <vt:lpstr>🏁 Slide 10: Conclusion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38</cp:revision>
  <dcterms:created xsi:type="dcterms:W3CDTF">2025-03-27T14:30:26Z</dcterms:created>
  <dcterms:modified xsi:type="dcterms:W3CDTF">2025-05-24T21:13:26Z</dcterms:modified>
</cp:coreProperties>
</file>